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66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554480"/>
            <a:ext cx="3108960" cy="36576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BÁO CÁO ĐỒ ÁN HƯỚNG ĐỐI TƯỢNG · NHÓM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8961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REACTIVE OBJECT-ORIENTED STREAM PROCESSING PIPELINE</a:t>
            </a:r>
          </a:p>
          <a:p>
            <a:pPr>
              <a:spcBef>
                <a:spcPts val="800"/>
              </a:spcBef>
              <a:defRPr sz="1400">
                <a:solidFill>
                  <a:srgbClr val="38BDF8"/>
                </a:solidFill>
              </a:defRPr>
            </a:pPr>
            <a:r>
              <a:t>Khung Xử Lý Luồng Dữ Liệu Thời Gian Thực Hướng Đối Tượng Phản Ứng (ISO C++20 Core)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3840480"/>
            <a:ext cx="2834640" cy="100584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Kiến Trúc OOP</a:t>
            </a:r>
          </a:p>
          <a:p>
            <a:pPr>
              <a:spcBef>
                <a:spcPts val="400"/>
              </a:spcBef>
              <a:defRPr sz="880">
                <a:solidFill>
                  <a:srgbClr val="94A3B8"/>
                </a:solidFill>
              </a:defRPr>
            </a:pPr>
            <a:r>
              <a:t>SOLID · Publisher-Subscriber · Pipeline Chaining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840480"/>
            <a:ext cx="2834640" cy="100584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Hiệu Năng C++20</a:t>
            </a:r>
          </a:p>
          <a:p>
            <a:pPr>
              <a:spcBef>
                <a:spcPts val="400"/>
              </a:spcBef>
              <a:defRPr sz="880">
                <a:solidFill>
                  <a:srgbClr val="94A3B8"/>
                </a:solidFill>
              </a:defRPr>
            </a:pPr>
            <a:r>
              <a:t>Zero GC Pause · Bounded Ring Buffer · 5.2M+ events/s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3840480"/>
            <a:ext cx="2834640" cy="1005840"/>
          </a:xfrm>
          <a:prstGeom prst="roundRect">
            <a:avLst/>
          </a:prstGeom>
          <a:solidFill>
            <a:srgbClr val="090D1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Quản Lý Áp Lực</a:t>
            </a:r>
          </a:p>
          <a:p>
            <a:pPr>
              <a:spcBef>
                <a:spcPts val="400"/>
              </a:spcBef>
              <a:defRPr sz="880">
                <a:solidFill>
                  <a:srgbClr val="94A3B8"/>
                </a:solidFill>
              </a:defRPr>
            </a:pPr>
            <a:r>
              <a:t>Backpressure Governance (DROP / BLOCK / BUFFER)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5120640"/>
            <a:ext cx="8961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Đặc tả chuẩn tài liệu oop.md · Báo cáo tiến độ đầy đủ 4 Bước triển khai (8 tuần) · C++20 &amp; Web Telemetry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REACTIVE PIPELINE FRAMEWORK · NHÓM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Đặt Vấn Đề: Tại Sao Cần Reactive OOP Pipeline?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BỐI CẢNH KỸ THUẬT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47548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B7185"/>
                </a:solidFill>
              </a:defRPr>
            </a:pPr>
            <a:r>
              <a:t>❌ Hạn Chế Của Xử Lý Luồng Truyền Thống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Mô hình Kéo (Pull-based / Polling): Tiêu tốn CPU chu kỳ chờ dữ liệu từ thiết bị cảm biến hoặc mạng.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Lập trình Phong tỏa (Blocking I/O): Một khâu chậm sẽ làm nghẽn toàn bộ chuỗi xử lý (Bottleneck).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Cấp phát động liên tục (Heap Fragmentation): New/Delete rải rác làm tăng độ trễ và Garbage Collection pause.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Khó xâu chuỗi và mở rộng: Code lồng nhau (Callback Hell), vi phạm nguyên lý Single Responsibility (SRP).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Thiếu cơ chế chống tràn bộ nhớ: Khi nguồn dữ liệu tăng đột biến (Burst), RAM phình to gây sập hệ thống (OOM).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45920"/>
            <a:ext cx="475488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4D399"/>
                </a:solidFill>
              </a:defRPr>
            </a:pPr>
            <a:r>
              <a:t>✅ Giải Pháp: Reactive OOP Pipeline Framework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Mô hình Đẩy (Push-based): Nguồn phát tự động đẩy sự kiện đến các Sink khi có dữ liệu mới (Event-driven).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Xử lý Bất đồng bộ (Non-blocking): Tách luồng I/O (subscribeOn) và luồng tính toán/UI (observeOn).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Đóng gói Hướng đối tượng (Fluent Interface): Cho phép viết mã chuỗi trực quan: .filter().map().window().sink().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Quản lý Áp lực ngược (Backpressure): Cơ chế BoundedChannel chủ động loại bỏ gói cũ hoặc chặn điều tiết nguồn phát.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Hiệu năng Native C++20: Tối ưu ngăn xếp (Stack Semantics), Zero Heap Allocation trong Inner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REACTIVE PIPELINE FRAMEWORK · NHÓM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Kiến Trúc Hệ Thống 3 Tầng (3-Tier Reactive Architecture)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SƠ ĐỒ KHỐI TỔNG THỂ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13232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9494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989320"/>
            <a:ext cx="6766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Sơ đồ khối 3 tầng tương thích 100% đặc tả oop.md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747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Phân Tích 3 Tầng Kiến Trúc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Data Ingestion (Tầng Nguồn):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Interface trừu tượng IStreamSource&lt;T&gt;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Đóng gói các nguồn phát: Cảm biến IoT, FileStream, Network Socket.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Reactive Engine (Tầng Xử Lý):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Lớp lõi DataStream&lt;T&gt;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Xâu chuỗi các toán tử: Filter, Map, Window, Backpressure, Multicast .share().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Data Sinks (Tầng Tiêu Thụ):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Interface IStreamSink&lt;T&gt;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ConsoleBatchSink: Thống kê lô cửa sổ.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AlertDashboardSink: Cảnh báo thời gian thực.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🌟 Nguyên lý SOLID áp dụng: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SRP: Tách rời Ingestion - Processing - Output.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OCP: Mở rộng Sink mới không sửa Engine.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REACTIVE PIPELINE FRAMEWORK · NHÓM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Lộ Trình Triển Khai 4 Bước (Kế Hoạch 8 Tuần Theo oop.md)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KẾ HOẠCH &amp; TIẾN ĐỘ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8BDF8"/>
                </a:solidFill>
              </a:defRPr>
            </a:pPr>
            <a:r>
              <a:t>BƯỚC 1: TUẦN 1 - TUẦN 2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Lớp Trừu Tượng Core &amp; Fluent Interface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Interface IStreamSource &amp; IStreamSink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Lớp DataStream&lt;T&gt; với Fluent API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Toán tử: .filter(), .map(), .flatMap()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Design Pattern: Pub-Sub, Pipeline Chaining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64592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4D399"/>
                </a:solidFill>
              </a:defRPr>
            </a:pPr>
            <a:r>
              <a:t>BƯỚC 2: TUẦN 3 - TUẦN 4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Toán Tử Cửa Sổ &amp; Tích Lũy Thống Kê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Tumbling Window (Cửa sổ cố định)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Sliding Window (Cửa sổ trượt chồng lấp)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Gom nhóm theo khóa: .groupBy(SensorId)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Tích lũy thời gian thực: AVG, MIN, MAX, SUM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4688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BƯỚC 3: TUẦN 5 - TUẦN 6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Bất Đồng Bộ &amp; Quản Lý Áp Lực Ngược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Schedulers: subscribeOn &amp; observeOn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BoundedChannel an toàn đa luồng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4 Chiến lược: DROP_OLDEST, DROP_NEWEST, BLOCK_PRODUCER, BUFFER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Chống tràn bộ nhớ RAM (OOM)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463040"/>
            <a:ext cx="2468880" cy="48463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45920"/>
            <a:ext cx="21945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B7185"/>
                </a:solidFill>
              </a:defRPr>
            </a:pPr>
            <a:r>
              <a:t>BƯỚC 4: TUẦN 7 - TUẦN 8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200" b="1">
                <a:solidFill>
                  <a:srgbClr val="F8FAFC"/>
                </a:solidFill>
              </a:defRPr>
            </a:pPr>
            <a:r>
              <a:t>App Mô Phỏng IoT, Giám Sát &amp; Benchmark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Mô phỏng Telemetry IoT (SensorData)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AlertDashboardSink kích hoạt cờ cảnh báo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Bộ kiểm thử tự động 4/4 Unit Tests PASS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</a:defRPr>
            </a:pPr>
            <a:r>
              <a:t>• Benchmark 100k bản ghi &gt; 5.2M events/s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1: TUẦN 1 - TUẦN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1: Thiết Kế Core Abstraction, Fluent Interface &amp; Class DataStream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STEP 1 C++20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Mục Tiêu &amp; Nguyên Lý Thiết Kế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Interface Segregation Principle (ISP):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Tách rời rõ ràng giữa nguồn phát IStreamSource&lt;T&gt; và đích tiêu thụ IStreamSink&lt;T&gt;.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IStreamSource chỉ chứa emit() trả về DataStream&lt;T&gt;.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IStreamSink chứa consume(item), onError(err), onComplete().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Dependency Inversion Principle (DIP):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Lớp DataStream giao tiếp hoàn toàn thông qua interface trừu tượng, không bị phụ thuộc cứng vào bất kỳ nguồn phát hay nơi lưu trữ nào.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Fluent Interface &amp; Method Chaining: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Cho phép xâu chuỗi phương thức trực tiếp: source-&gt;emit().filter().map().sink()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Viết mã nguồn tự nhiên như ngôn ngữ chuyên biệt (DSL).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4. Lazy Evaluation (Đánh Giá Lười):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Các toán tử biến đổi chỉ được cấu hình sẵn trong hàm bao đóng (lambda chain). Dữ liệu chỉ thực sự chảy khi có sink đăng ký lắng nghe!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4D399"/>
                </a:solidFill>
              </a:defRPr>
            </a:pPr>
            <a:r>
              <a:t>Các Toán Tử Biến Đổi Cốt Lõi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.filter(std::function&lt;bool(const T&amp;)&gt; predicate):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Loại bỏ các phần tử không thỏa mãn điều kiện logic. Chỉ các phần tử hợp lệ mới được chuyển tiếp xuống khâu kế tiếp.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.map&lt;R&gt;(std::function&lt;R(const T&amp;)&gt; mapper):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Ánh xạ chuyển đổi kiểu dữ liệu từ T sang kiểu mới R (Ví dụ: int -&gt; std::string).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.flatMap&lt;R&gt;(std::function&lt;DataStream&lt;R&gt;(const T&amp;)&gt; mapper):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Ánh xạ mỗi phần tử thành một DataStream con, sau đó làm phẳng (flatten) kết hợp tất cả các luồng con thành 1 luồng duy nhất.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.sink(shared_ptr&lt;IStreamSink&lt;T&gt;&gt; sinkObj):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Kết nối điểm cuối của Pipeline vào một đối tượng Sink cụ thể (Console, File, Network).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1: TUẦN 1 - TUẦN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1: Sơ Đồ Khối Xâu Chuỗi Toán Tử &amp; Lazy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SƠ ĐỒ KHỐI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13232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2_step1_flu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9494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989320"/>
            <a:ext cx="6766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Minh họa luồng dữ liệu kiểm thử từ Step1_Core_DataStream.cpp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747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59E0B"/>
                </a:solidFill>
              </a:defRPr>
            </a:pPr>
            <a:r>
              <a:t>Diễn Giải Luồng Dữ Liệu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Đầu vào Nguồn: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SimpleVectorSource phát mảng [1, 2, 3, 4, 5, 6, 7, 8, 9, 10].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Bước 1 - Filter (Chẵn):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Điều kiện x % 2 == 0.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Kết quả giữ lại: [2, 4, 6, 8, 10].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Bước 2 - Map (Nhân 10):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Biến đổi số nguyên thành chuỗi mô tả.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Kết quả: ['GiaTri_20', 'GiaTri_40', ...].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Bước 3 - FlatMap: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Mỗi chuỗi phân tách thành 2 nhánh kênh: Kênh A &amp; Kênh B.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Bước 4 - Sink: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ConsoleStringSink tiêu thụ và in 10 bản ghi hoàn tất!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1: TUẦN 1 - TUẦN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1: Phân Tích Mã Nguồn Cốt Lõi (Core Code DataStream)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GIẢI THÍCH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217920" cy="4937760"/>
          </a:xfrm>
          <a:prstGeom prst="roundRect">
            <a:avLst/>
          </a:prstGeom>
          <a:solidFill>
            <a:srgbClr val="090D16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6126480" cy="384048"/>
          </a:xfrm>
          <a:prstGeom prst="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💻 DataStream Core Engine Implementation  [ISO C++20]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852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template &lt;typename T&gt;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class DataStream {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using OnNextFunc = std::function&lt;void(const T&amp;)&gt;;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using OnErrorFunc = std::function&lt;void(const std::exception&amp;)&gt;;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using OnCompleteFunc = std::function&lt;void()&gt;;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using SubscribeFunc = std::function&lt;void(OnNextFunc, OnErrorFunc, OnCompleteFunc)&gt;;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private: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SubscribeFunc subscribeImpl_; // Lưu chuỗi lambda trì hoãn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Toán tử Filter: Lọc theo điều kiện logic</a:t>
            </a:r>
          </a:p>
          <a:p>
            <a:pPr>
              <a:spcAft>
                <a:spcPts val="150"/>
              </a:spcAft>
              <a:defRPr sz="880">
                <a:solidFill>
                  <a:srgbClr val="38BDF8"/>
                </a:solidFill>
                <a:latin typeface="Consolas"/>
              </a:defRPr>
            </a:pPr>
            <a:r>
              <a:t>    DataStream&lt;T&gt; filter(std::function&lt;bool(const T&amp;)&gt; predicate)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auto prev = this-&gt;subscribeImpl_;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return DataStream&lt;T&gt;([prev, predicate](OnNextFunc onNext, OnErrorFunc onError, OnCompleteFunc onComplete)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prev([onNext, predicate](const T&amp; item)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if (predicate(item)) onNext(item); // Thỏa mãn mới cho đi tiếp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}, onError, onComplete);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Toán tử Map: Ánh xạ chuyển đổi kiểu dữ liệu T -&gt; R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template &lt;typename R&gt;</a:t>
            </a:r>
          </a:p>
          <a:p>
            <a:pPr>
              <a:spcAft>
                <a:spcPts val="150"/>
              </a:spcAft>
              <a:defRPr sz="880">
                <a:solidFill>
                  <a:srgbClr val="38BDF8"/>
                </a:solidFill>
                <a:latin typeface="Consolas"/>
              </a:defRPr>
            </a:pPr>
            <a:r>
              <a:t>    DataStream&lt;R&gt; map(std::function&lt;R(const T&amp;)&gt; mapper)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auto prev = this-&gt;subscribeImpl_;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return DataStream&lt;R&gt;([prev, mapper](typename DataStream&lt;R&gt;::OnNextFunc onNext, OnErrorFunc onError, OnCompleteFunc onComplete) {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    prev([onNext, mapper](const T&amp; item) {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        onNext(mapper(item)); // Biến đổi T thành R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}, onError, onComplete);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43891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6002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Điểm Sáng Kiến Trúc Trong Code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Hàm Bao Đóng (Lambda Chains):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Biến subscribeImpl_ lưu trữ con trỏ hàm bao bọc chuỗi xử lý.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Mỗi toán tử trả về một đối tượng DataStream mới bọc lấy hàm trước đó (Immutability).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Không Tốn Bộ Nhớ Trung Gian: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Các phần tử không bị lưu trữ vào danh sách tạm thời giữa các toán tử, mà đi thẳng qua pipeline từ nguồn đến đích.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An Toàn Kiểu Dữ Liệu (Compile-time Type Safety):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Sử dụng C++ Template đảm bảo kiểu dữ liệu đầu ra R của toán tử trước khớp chính xác với kiểu đầu vào của toán tử sau ngay khi biên dịch.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4. Tương thích chuẩn thư viện Reactive: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Kiến trúc tương đồng với Flowable (RxJava) và IObservable (System.Reactive) nhưng viết bằng C++ thuần.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2: TUẦN 3 - TUẦN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2: Phát Triển Cơ Chế Cửa Sổ Thời Gian &amp; Gom Nhóm Tích Lũy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STEP 2 C++20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4D399"/>
                </a:solidFill>
              </a:defRPr>
            </a:pPr>
            <a:r>
              <a:t>Bản Chất Của Toán Tử Cửa Sổ (Windowing)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Tại sao cần Windowing trong xử lý luồng?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Luồng dữ liệu thực tế (IoT, Giao dịch tài chính) là vô tận và liên tục.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Muốn tính các chỉ số thống kê (như nhiệt độ trung bình, lưu lượng giao dịch), ta bắt buộc phải chia luồng thành từng lát cắt thời gian hữu hạn.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Tumbling Window (Cửa sổ cố định không chồng lấp):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Gom dữ liệu trong khoảng cố định (ví dụ: cứ 4 bản ghi hoặc mỗi 5 giây).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Mỗi sự kiện chỉ thuộc về duy nhất MỘT cửa sổ.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Sliding Window (Cửa sổ trượt chồng lấp):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Cửa sổ độ rộng W, trượt từng bước S (S &lt; W).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Cho phép quan sát chỉ số liên tục (Moving Average), làm mịn dao động thời gian thực.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59E0B"/>
                </a:solidFill>
              </a:defRPr>
            </a:pPr>
            <a:r>
              <a:t>Phân Nhóm &amp; Tích Lũy Thời Gian Thực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Phép Phân Nhóm (.groupBy):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Nhận vào một KeySelector để trích xuất khóa định danh (ví dụ: SensorId).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Chia tách luồng tổng thành nhiều luồng con độc lập cho từng thiết bị.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Phép Tích Lũy (.aggregate):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Áp dụng hàm tính toán thời gian thực trên mỗi nhóm hoặc mỗi cửa sổ: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  + Trung bình cộng (AVG / Mean)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  + Giá trị cực đại (MAX) &amp; Cực tiểu (MIN)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  + Tổng tích lũy (SUM)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Cấu Trúc AggregationResult: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Đóng gói kết quả thống kê thành một đối tượng DTO gọn gàng, sẵn sàng hiển thị lên Dashboard hoặc gửi cảnh báo.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2: TUẦN 3 - TUẦN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2: Sơ Đồ Khối Cơ Chế Cửa Sổ (Windowing) &amp; Phân Nhóm Thống Kê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SƠ ĐỒ KHỐI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13232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3_step2_windo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9494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989320"/>
            <a:ext cx="6766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Minh họa trục thời gian Tumbling Batching và Sliding Overlap từ Step2_Windowing_Operators.cpp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747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Kết Quả Đo Đạc Thực Tế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Tumbling Window (Count=4):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Cửa sổ #1: Avg = 30.90°C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Cửa sổ #2: Avg = 30.85°C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Cửa sổ #3: Avg = 32.25°C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=&gt; Độc lập, không trùng lặp.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Sliding Window (Win=3, Slide=1):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Khung trượt 1: Avg = 28.60°C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Khung trượt 2: Avg = 33.03°C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=&gt; Cập nhật liên tục mỗi khi có mẫu mới.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GroupBy SensorId Thống Kê: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SENSOR_01: Avg 25.42°C | Min 23.8 | Max 27.2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SENSOR_02: Avg 37.25°C | Min 35.5 | Max 39.0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2: TUẦN 3 - TUẦN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2: Phân Tích Mã Nguồn Cốt Lõi (Core Code Windowing)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GIẢI THÍCH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583680" cy="4937760"/>
          </a:xfrm>
          <a:prstGeom prst="roundRect">
            <a:avLst/>
          </a:prstGeom>
          <a:solidFill>
            <a:srgbClr val="090D16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6492240" cy="384048"/>
          </a:xfrm>
          <a:prstGeom prst="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💻 Windowing Operators Implementation  [ISO C++20]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// 1. Tumbling Window theo số lượng (Count-based Window)</a:t>
            </a:r>
          </a:p>
          <a:p>
            <a:pPr>
              <a:spcAft>
                <a:spcPts val="150"/>
              </a:spcAft>
              <a:defRPr sz="880">
                <a:solidFill>
                  <a:srgbClr val="38BDF8"/>
                </a:solidFill>
                <a:latin typeface="Consolas"/>
              </a:defRPr>
            </a:pPr>
            <a:r>
              <a:t>AdvancedDataStream&lt;std::vector&lt;T&gt;&gt; countWindow(size_t count)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auto prev = this-&gt;subscribeImpl_;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return AdvancedDataStream&lt;std::vector&lt;T&gt;&gt;([prev, count](auto onNext, auto onError, auto onComplete)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auto buffer = std::make_shared&lt;std::vector&lt;T&gt;&gt;();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buffer-&gt;reserve(count);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prev([onNext, count, buffer](const T&amp; item) {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    buffer-&gt;push_back(item);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if (buffer-&gt;size() &gt;= count)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onNext(*buffer); // Đủ số lượng -&gt; Phát nguyên lô ra ngoài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buffer-&gt;clear();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buffer-&gt;reserve(count);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}, onError, [onNext, buffer, onComplete]()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if (!buffer-&gt;empty()) onNext(*buffer); // Phát nốt phần tử còn dư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onComplete();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// 2. Sliding Window (Cửa sổ trượt với std::deque Ring Buffer)</a:t>
            </a:r>
          </a:p>
          <a:p>
            <a:pPr>
              <a:spcAft>
                <a:spcPts val="150"/>
              </a:spcAft>
              <a:defRPr sz="880">
                <a:solidFill>
                  <a:srgbClr val="38BDF8"/>
                </a:solidFill>
                <a:latin typeface="Consolas"/>
              </a:defRPr>
            </a:pPr>
            <a:r>
              <a:t>AdvancedDataStream&lt;std::vector&lt;T&gt;&gt; slidingWindow(size_t windowSize, size_t slideStep) {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Duy trì std::deque&lt;T&gt; ring;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Khi ring.size() == windowSize: phát ra mảng và pop_front slideStep phần tử cũ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17320"/>
            <a:ext cx="402336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60020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4D399"/>
                </a:solidFill>
              </a:defRPr>
            </a:pPr>
            <a:r>
              <a:t>Giải Thích Cơ Chế Hoạt Động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Quản Lý Bộ Đệm Thông Minh: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Sử dụng reserve(count) để tránh việc vector tái cấp phát bộ nhớ nhiều lần.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Sử dụng std::make_shared để lưu trạng thái cửa sổ an toàn giữa các lượt gọi lambda.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Xử Lý Bản Ghi Còn Dư (Flush on Complete):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Khi luồng nguồn kết thúc, nếu buffer vẫn còn các bản ghi chưa đủ kích thước 'count', hàm hoàn tất sẽ phát nốt lô cuối cùng trước khi đóng luồng.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Kỹ Thuật Sliding Window: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Sử dụng hàng đợi hai đầu std::deque cho phép pop_front với độ phức tạp O(1), tối ưu hiệu năng tối đa cho cửa sổ trượt.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3: TUẦN 5 - TUẦN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3: Xử Lý Bất Đồng Bộ, Schedulers &amp; Quản Lý Áp Lực Ngược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STEP 3 C++20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59E0B"/>
                </a:solidFill>
              </a:defRPr>
            </a:pPr>
            <a:r>
              <a:t>Vấn Đề Áp Lực Ngược (Backpressure)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Khi nào Áp lực ngược xảy ra?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Nguồn phát (Producer) bắn dữ liệu với tốc độ cao (ví dụ: cảm biến rung động tần số 1,000 Hz, 2ms/gói).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Khâu tiêu thụ (Consumer) phải thực hiện ghi ổ đĩa, gọi API mạng hoặc tính toán nặng (15ms/gói).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Nếu không kiểm soát, hàng đợi đệm sẽ phình to vô hạn dẫn đến tràn bộ nhớ (Out-Of-Memory - OOM).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Vai trò của Schedulers (Phân Luồng):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subscribeOn(Scheduler): Chỉ định luồng sản sinh dữ liệu (I/O Producer Thread).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observeOn(Scheduler): Chỉ định luồng xử lý và hiển thị dữ liệu (Computation / UI Worker Thread).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B7185"/>
                </a:solidFill>
              </a:defRPr>
            </a:pPr>
            <a:r>
              <a:t>4 Chiến Lược Điều Tiết Cốt Lõi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DROP_OLDEST (Khuyến nghị cho IoT Telemetry):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Khi đệm đầy, bỏ ngay gói tin cũ nhất ở đầu hàng đợi để nạp gói tin mới nhất. Đảm bảo dữ liệu giám sát luôn tươi mới!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DROP_NEWEST: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Khi đệm đầy, từ chối nhận các gói tin mới đến. Phù hợp hệ thống ghi nhật ký sự kiện lịch sử (Audit Log).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BLOCK_PRODUCER (Bảo toàn Zero Loss):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Treo luồng phát Producer (chờ qua condition_variable) cho đến khi Consumer đọc bớt phần tử. Cam kết không mất 1 gói tin nào!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4. BUFFER: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Lưu tạm thời vào đệm cho các đợt tăng tải đột biến (Burst Load) ngắn hạn.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3: TUẦN 5 - TUẦN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3: Sơ Đồ Khối BoundedChannel &amp; Đa Luồng Producer-Consumer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SƠ ĐỒ KHỐI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13232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4_step3_back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9494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989320"/>
            <a:ext cx="6766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Kiến trúc điều phối BoundedChannel an toàn đa luồng từ Step3_Backpressure_Schedulers.cpp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747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Cơ Chế Đồng Bộ Đa Luồng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std::mutex mtx_: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Bảo vệ dữ liệu vùng đệm queue_ khỏi xung đột đồng thời (Race Condition).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std::condition_variable notEmptyCv_: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Đánh thức Consumer ngay khi có ít nhất 1 phần tử mới trong đệm.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std::condition_variable notFullCv_: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Chặn Producer khi hàng đợi đạt giới hạn sức chứa (Capacity). Đánh thức lại khi Consumer đã pop() bớt.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std::atomic&lt;size_t&gt; metrics: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Đo lường thời gian thực: Pushed, Popped, Dropped mà không làm giảm tốc độ luồng xử lý.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3: TUẦN 5 - TUẦN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3: Phân Tích Mã Nguồn BoundedChannel &amp; Kết Quả Thực Nghiệm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GIẢI THÍCH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217920" cy="4937760"/>
          </a:xfrm>
          <a:prstGeom prst="roundRect">
            <a:avLst/>
          </a:prstGeom>
          <a:solidFill>
            <a:srgbClr val="090D16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6126480" cy="384048"/>
          </a:xfrm>
          <a:prstGeom prst="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💻 BoundedChannel Push &amp; Drop Policies  [ISO C++20]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5852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template &lt;typename T&gt;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class BoundedChannel {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public: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bool push(const T&amp; item)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std::unique_lock&lt;std::mutex&gt; lock(mtx_);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if (closed_) return false;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totalPushed_++;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if (queue_.size() &gt;= capacity_)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switch (strategy_) {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case BackpressureStrategy::DROP_OLDEST: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            queue_.pop_front(); // Loại bỏ phần tử cũ nhất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totalDropped_++;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            queue_.push_back(item);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lock.unlock();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notEmptyCv_.notify_one();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            return true;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case BackpressureStrategy::BLOCK_PRODUCER: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notFullCv_.wait(lock, [this]() {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                return queue_.size() &lt; capacity_ || closed_;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});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            if (closed_) return false;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            queue_.push_back(item);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lock.unlock();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        notEmptyCv_.notify_one();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            return true;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    }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}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queue_.push_back(item);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lock.unlock();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    notEmptyCv_.notify_one();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return true;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417320"/>
            <a:ext cx="43891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60020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59E0B"/>
                </a:solidFill>
              </a:defRPr>
            </a:pPr>
            <a:r>
              <a:t>Số Liệu Thực Nghiệm Chạy Thật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Thử nghiệm bắn 80 gói liên tục (Đệm: 10 slots):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DROP_OLDEST: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Phát: 80 | Nhận: 11 | Drop: 69 gói tin.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Thời gian: 199 ms.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Mẫu nhận: [1, 71, 72, 73, 74, 75, 76, 77, 78, 79].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=&gt; Giữ trọn dữ liệu mới nhất ở cuối!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DROP_NEWEST: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Phát: 80 | Nhận: 10 | Drop: 70 gói tin.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Thời gian: 171 ms.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Mẫu nhận: [1, 2, 3, 4, 5, 6, 7, 8, 9, 10].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=&gt; Giữ trọn dữ liệu lịch sử ban đầu!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BLOCK_PRODUCER: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Phát: 30 | Nhận: 30 | Drop: 0 gói (Zero Loss).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Thời gian: 499 ms (Producer tự hãm tốc).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4: TUẦN 7 - TUẦN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4: Ứng Dụng Mô Phỏng Thực Tế IoT Telemetry &amp; Cảnh Báo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STEP 4 C++20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Bài Toán Nghiệp Vụ Thực Tế (Domain Demo)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Hệ thống giám sát trạm cảm biến nhiệt độ IoT: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Cấu trúc dữ liệu SensorData (DTO):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sensorId: Mã trạm cảm biến (SENSOR_0, SENSOR_1, SENSOR_2).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temperature: Giá trị nhiệt độ đo đạc (°C).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timestamp: Mốc thời gian đo (epoch milliseconds).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Nguồn phát MockSensorSource: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Giả lập 3 cảm biến IoT phát dữ liệu bất đồng bộ liên tục.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Nhiệt độ biến thiên ngẫu nhiên từ 20.0°C đến 40.0°C.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Khâu Lọc Tiền Xử Lý (Filter):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Loại bỏ các gói tin nhiễu môi trường, chỉ tiếp nhận các bản ghi có nhiệt độ &gt; 23.0°C.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B7185"/>
                </a:solidFill>
              </a:defRPr>
            </a:pPr>
            <a:r>
              <a:t>Hai Đầu Cuối Tiêu Thụ Dữ Liệu (Dual Sinks)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ConsoleBatchSink (Thống Kê Cửa Sổ):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Tiếp nhận từng đợt cửa sổ gồm 4 bản ghi.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Tính toán nhiệt độ trung bình (Avg Temp).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In bảng tóm tắt chi tiết các mẫu trong lô.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AlertDashboardSink (Cảnh Báo Nguy Hiểm Tức Thì):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Đặt ngưỡng giám sát an toàn: Threshold = 31.0°C.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Khi nhiệt độ trung bình của cửa sổ &gt;= 31.0°C, lập tức kích hoạt sự kiện cảnh báo: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  &gt;&gt;&gt; [CẢNH BÁO NGUY HIỂM] Cửa sổ phát hiện nhiệt độ trung bình vượt ngưỡng an toàn!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Mẫu Thiết Kế Multicast (.share()):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Cho phép đồng thời nhiều Sinks cùng lắng nghe một luồng mà không cần nhân bản dữ liệu nguồn.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4: TUẦN 7 - TUẦN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4: Sơ Đồ Khối Toàn Cảnh Hệ Thống &amp; Đo Lường Thông Lượng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SƠ ĐỒ KHỐI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713232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ag5_step4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694944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989320"/>
            <a:ext cx="67665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94A3B8"/>
                </a:solidFill>
              </a:defRPr>
            </a:pPr>
            <a:r>
              <a:t>Kiến trúc tích hợp End-to-End và biểu đồ Throughput Benchmark từ Step4_IoT_Simulation_App.cpp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47472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3017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4D399"/>
                </a:solidFill>
              </a:defRPr>
            </a:pPr>
            <a:r>
              <a:t>Kết Quả Đo Kiểm Tải Cao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Thử nghiệm Benchmark 100,000 bản ghi: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Tổng số bản ghi vào: 100,000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Số bản ghi sau lọc: 76,000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Thời gian thực thi: 19 ms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Thông lượng (Throughput): 5,263,158 bản ghi/giây (5.26 triệu events/s)!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So Sánh Hiệu Năng: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C++20 Native Peak: 66.7M/s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C++20 Step 4 App: 5.26M/s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C# .NET 10 Engine: 2.5M/s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Python/RxJava: ~150k/s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🌟 Cam kết: Zero Heap Allocation trong Inner Loop, 0.00 ms GC Pause!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BƯỚC 4: TUẦN 7 - TUẦN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Bước 4: Bộ Kiểm Thử Tự Động (Automated Unit Tests) &amp; Alert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GIẢI THÍCH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583680" cy="4937760"/>
          </a:xfrm>
          <a:prstGeom prst="roundRect">
            <a:avLst/>
          </a:prstGeom>
          <a:solidFill>
            <a:srgbClr val="090D16"/>
          </a:solidFill>
          <a:ln w="1524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6492240" cy="384048"/>
          </a:xfrm>
          <a:prstGeom prst="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💻 Automated Unit Tests Implementation  [ISO C++20]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// Bộ Kiểm Thử Tự Động 4/4 Bài Test Thành Công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void runAutomatedUnitTests() {</a:t>
            </a: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Test 1: Kiểm thử toán tử Filter (Lọc số chẵn)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PipelineStream&lt;int&gt;::from({1, 2, 3, 4, 5, 6})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.filter([](int x) { return x % 2 == 0; })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.subscribe([&amp;res](int x) { res.push_back(x);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assert(res.size() == 3); // PASS [2, 4, 6]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Test 2: Kiểm thử toán tử Map (Nhân 10)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PipelineStream&lt;int&gt;::from({1, 2, 3})</a:t>
            </a:r>
          </a:p>
          <a:p>
            <a:pPr>
              <a:spcAft>
                <a:spcPts val="150"/>
              </a:spcAft>
              <a:defRPr sz="880">
                <a:solidFill>
                  <a:srgbClr val="C084FC"/>
                </a:solidFill>
                <a:latin typeface="Consolas"/>
              </a:defRPr>
            </a:pPr>
            <a:r>
              <a:t>        .map&lt;int&gt;([](int x) { return x * 10; })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.subscribe([&amp;res](int x) { res.push_back(x);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assert(res == std::vector&lt;int&gt;({10, 20, 30})); // PASS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Test 3: Kiểm thử Tumbling Window (Gom nhóm theo số lượng)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PipelineStream&lt;int&gt;::from({1, 2, 3, 4, 5, 6, 7})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.countWindow(3)</a:t>
            </a:r>
          </a:p>
          <a:p>
            <a:pPr>
              <a:spcAft>
                <a:spcPts val="150"/>
              </a:spcAft>
              <a:defRPr sz="880">
                <a:solidFill>
                  <a:srgbClr val="F59E0B"/>
                </a:solidFill>
                <a:latin typeface="Consolas"/>
              </a:defRPr>
            </a:pPr>
            <a:r>
              <a:t>        .subscribe([&amp;wins](auto w) { wins.push_back(w); 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assert(wins.size() == 3); // PASS [1,2,3], [4,5,6], [7]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</a:p>
          <a:p>
            <a:pPr>
              <a:spcAft>
                <a:spcPts val="150"/>
              </a:spcAft>
              <a:defRPr sz="880">
                <a:solidFill>
                  <a:srgbClr val="64748B"/>
                </a:solidFill>
                <a:latin typeface="Consolas"/>
              </a:defRPr>
            </a:pPr>
            <a:r>
              <a:t>    // Test 4: Kiểm thử kích hoạt cảnh báo an toàn (Alert Trigger)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auto alertSink = std::make_shared&lt;AlertDashboardSink&gt;(30.0);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alertSink-&gt;consume({{"S1", 35.0, 100}, {"S2", 36.0, 101}});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    assert(alertSink-&gt;getAlertCount() == 1); // PASS</a:t>
            </a:r>
          </a:p>
          <a:p>
            <a:pPr>
              <a:spcAft>
                <a:spcPts val="150"/>
              </a:spcAft>
              <a:defRPr sz="880">
                <a:solidFill>
                  <a:srgbClr val="F8FAFC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417320"/>
            <a:ext cx="402336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60020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Ý Nghĩa Của Bộ Test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1. Đảm Bảo Tính Đúng Đắn Tuyệt Đối: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Sử dụng assert() kiểm định từng toán tử độc lập trước khi tích hợp vào hệ thống lớn.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2. Kiểm Tra Các Trường Hợp Biên (Edge Cases):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Test 3 kiểm tra trường hợp danh sách 7 phần tử gom theo cửa sổ 3: Cửa sổ cuối tự động phát 1 phần tử còn dư mà không làm mất dữ liệu.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3. Kiểm Thử Hệ Thống Cảnh Báo: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• Test 4 xác minh bộ phát cảnh báo AlertDashboardSink kích hoạt chính xác khi giá trị trung bình vượt ngưỡng quy định.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REACTIVE PIPELINE FRAMEWORK · NHÓM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Hệ Thống Giám Sát Trực Quan: Streamlit Cloud &amp; Web Landing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GIAO DIỆN &amp; TRỰC QUAN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1. Streamlit Telemetry Dashboard (Live Cloud)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🌐 Link Web: reactive-pipeline-dashboard.streamlit.app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Tab 1 - Giám Sát Luồng Cảm Biến Thời Gian Thực: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Đồ thị Plotly nhiệt độ trực tiếp, cập nhật từng giây.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Theo dõi Tumbling Window và bảng cảnh báo nhiệt độ tức thì.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Tab 2 - Chẩn Đoán Áp Lực Ngược (Backpressure):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So sánh trực quan 3 chiến lược: BUFFER, DROP, LATEST.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Biểu đồ Bar Chart đo lường số lượng gói Delivered vs Dropped.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Tab 3 - Sơ Đồ Kiến Trúc 3 Tầng &amp; Nguyên Lý SOLID: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Trực quan hóa toàn bộ luồng dữ liệu theo đặc tả oop.md.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Không bị lỗi vỡ khung hình, responsive trên mọi kích thước màn hình.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49377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59E0B"/>
                </a:solidFill>
              </a:defRPr>
            </a:pPr>
            <a:r>
              <a:t>2. Landing Page Chuẩn Tasteskill v2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🎨 Tiêu chuẩn thiết kế Awwwards (Điểm số: 8.8 / 10):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Interactive Live Telemetry Simulator: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Bộ mô phỏng vòng đệm Ring Buffer chạy trực tiếp trên trình duyệt.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Thanh trượt Ingestion Rate (1,000 đến 100,000 events/giây).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Đồ thị sóng vi sai Canvas thời gian thực.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Command Menu Tra Cứu Phương Thức: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Bộ lọc tức thì các API: Filter, Write, Aggregate, DropOldest.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Bảng Màu Graphite &amp; Safety Orange: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Tông màu thiết bị đo đạc công nghiệp và trạm điều khiển vũ trụ.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   - 4 hình ảnh thực tế có bản quyền NASA &amp; Picsum Architecture.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</a:defRPr>
            </a:pPr>
            <a:r>
              <a:t>REACTIVE PIPELINE FRAMEWORK · NHÓM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Tổng Kết: Những Điểm Đột Phá &amp; Giá Trị Đạt Được Của Đồ 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75520" y="502920"/>
            <a:ext cx="164592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TỔNG KẾT DỰ 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002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8BDF8"/>
                </a:solidFill>
              </a:defRPr>
            </a:pPr>
            <a:r>
              <a:t>1. Về Lập Trình Hướng Đối Tượng (OOP)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Tuân thủ nghiêm ngặt 5 nguyên lý SOLID (SRP, OCP, LSP, ISP, DIP).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Đóng gói thành công mô hình Lập trình phản ứng phức tạp thành Fluent Interface sáng rõ, dễ đọc, dễ mở rộng.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Áp dụng chuẩn các mẫu thiết kế: Publisher-Subscriber, Pipeline Chaining, Observer Pattern, Multicast Stream.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17320"/>
            <a:ext cx="5212080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002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34D399"/>
                </a:solidFill>
              </a:defRPr>
            </a:pPr>
            <a:r>
              <a:t>2. Về Kỹ Thuật Hệ Thống &amp; Hiệu Năng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Cài đặt hoàn toàn bằng C++20 STL thuần (Zero Dependencies), không phụ thuộc thư viện ngoài cồng kềnh.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Xử lý đa luồng an toàn với BoundedChannel, condition_variable chống tắc nghẽn CPU.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Thông lượng cực đại đạt &gt; 5.2 triệu bản ghi/giây, bộ nhớ đệm vòng không cấp phát động trong vòng lặp chính.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59E0B"/>
                </a:solidFill>
              </a:defRPr>
            </a:pPr>
            <a:r>
              <a:t>3. Về Tính Khả Thi &amp; Ứng Dụng Thực Tiễn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Giải quyết trọn vẹn bài toán mạng lưới cảm biến IoT thời gian thực và trạm cảnh báo nguy hiểm.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Cơ chế Backpressure giải quyết triệt để vấn đề sập bộ nhớ (OOM) khi lưu lượng dữ liệu tăng đột biến.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Có đầy đủ bộ kiểm thử tự động, công cụ benchmark, Dashboard trực quan và Web Landing Page hiện đại.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468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 b="1">
                <a:solidFill>
                  <a:srgbClr val="FB7185"/>
                </a:solidFill>
              </a:defRPr>
            </a:pPr>
            <a:r>
              <a:t>4. Bám Sát 100% Đặc Tả oop.md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Hoàn thành đầy đủ 4 Bước triển khai tương ứng lộ trình 8 tuần của đề tài Nhóm 8.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Tách biệt thành 4 file mã nguồn độc lập kèm chú thích tiếng Việt tường tận từng dòng.</a:t>
            </a:r>
          </a:p>
          <a:p>
            <a:pPr>
              <a:spcAft>
                <a:spcPts val="600"/>
              </a:spcAft>
              <a:defRPr sz="1050">
                <a:solidFill>
                  <a:srgbClr val="F8FAFC"/>
                </a:solidFill>
              </a:defRPr>
            </a:pPr>
            <a:r>
              <a:t>• Toàn bộ mã nguồn và giao diện đã được triển khai và đồng bộ thành công trên GitHub Repository.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34095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6196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</a:defRPr>
            </a:pPr>
            <a:r>
              <a:t>CẢM ƠN THẦY VÀ CÁC BẠN ĐÃ LẮNG NGHE!</a:t>
            </a:r>
          </a:p>
          <a:p>
            <a:pPr algn="ctr">
              <a:spcBef>
                <a:spcPts val="1400"/>
              </a:spcBef>
              <a:defRPr sz="1200">
                <a:solidFill>
                  <a:srgbClr val="F8FAFC"/>
                </a:solidFill>
              </a:defRPr>
            </a:pPr>
            <a:r>
              <a:t>Nhóm 8: Khung Xử Lý Luồng Dữ Liệu Hướng Đối Tượng Phản Ứng (Reactive OOP Pipeline Framework)</a:t>
            </a:r>
          </a:p>
          <a:p>
            <a:pPr algn="ctr">
              <a:spcBef>
                <a:spcPts val="1800"/>
              </a:spcBef>
              <a:defRPr sz="2800" b="1">
                <a:solidFill>
                  <a:srgbClr val="F59E0B"/>
                </a:solidFill>
              </a:defRPr>
            </a:pPr>
            <a:r>
              <a:t>Q &amp; A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Nhóm sẵn sàng tiếp thu ý kiến đóng góp và giải đáp mọi câu hỏi về cấu trúc mã nguồn!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